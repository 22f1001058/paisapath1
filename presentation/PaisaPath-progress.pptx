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Team 20, and this is PaisaPath. I will cover what we learned from our interviews, and what we built because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interviews, three stages. What surprised us: the problem did not go away as people got more experienced, it just looked different.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got stuck at the same point: comparing the options. The lowest point on every map was doing nothing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gaps: no beginner guidance, no structure that fits a life stage, no visible reasoning, and unclear data practices.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feature answers one of the four gaps. The simulator is the one people react to: you type the question the way you would say it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strongest slide. Slow down here. All the arithmetic is done by fixed rules; the model only gets handed finished figures.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screens built and working, and no number anywhere in the app was written by an AI. Tell us where the explanations still will not earn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874520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60" kern="0" dirty="0">
                <a:solidFill>
                  <a:srgbClr val="857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BSMS4002 · DESIGN THINKING FOR DATA-DRIVEN APP DEVELOPMENT · IIT MADRAS BS DEGREE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2194560"/>
            <a:ext cx="1087495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B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PaisaPath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58368" y="3310128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beginner-friendly personal finance mentor for young adults entering financial independence.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B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nine interviews taught us, and what we built because of it.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434340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Harsh Patel     ·     Arvind S     ·     Soham Ghosh     ·     Team 20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368" y="6291072"/>
            <a:ext cx="10874959" cy="0"/>
          </a:xfrm>
          <a:prstGeom prst="line">
            <a:avLst/>
          </a:prstGeom>
          <a:noFill/>
          <a:ln w="9525">
            <a:solidFill>
              <a:srgbClr val="DFD7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355080"/>
            <a:ext cx="81562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57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EMPATHIZE → DEFINE → IDEATE → BUILD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814587" y="6355080"/>
            <a:ext cx="27187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20" kern="0" dirty="0">
                <a:solidFill>
                  <a:srgbClr val="857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07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60" kern="0" dirty="0">
                <a:solidFill>
                  <a:srgbClr val="857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CUSTOMER STORY · 9 INTERVIEWS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8749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B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paycheck arrives before the first financial skill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36192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stages of handling money. Experience changed what went wrong. It did not fix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32004" cy="1298448"/>
          </a:xfrm>
          <a:prstGeom prst="rect">
            <a:avLst/>
          </a:prstGeom>
          <a:solidFill>
            <a:srgbClr val="14493C"/>
          </a:solidFill>
          <a:ln w="12700">
            <a:solidFill>
              <a:srgbClr val="1449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965960"/>
            <a:ext cx="32958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857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1 · PRE-EARNER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" y="2176272"/>
            <a:ext cx="32958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Riya, 19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04672" y="2487168"/>
            <a:ext cx="32592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“It is just a small payment… where did all my money go?”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74794" y="1965960"/>
            <a:ext cx="32004" cy="1298448"/>
          </a:xfrm>
          <a:prstGeom prst="rect">
            <a:avLst/>
          </a:prstGeom>
          <a:solidFill>
            <a:srgbClr val="C8891F"/>
          </a:solidFill>
          <a:ln w="12700">
            <a:solidFill>
              <a:srgbClr val="C88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1098" y="1965960"/>
            <a:ext cx="32958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857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2 · CAUTIOUS FIRST EARNER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21098" y="2176272"/>
            <a:ext cx="32958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Samik, 23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21098" y="2487168"/>
            <a:ext cx="32592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want to manage my money wisely, but I’m still unsure I’m making the right decisions.”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91221" y="1965960"/>
            <a:ext cx="32004" cy="1298448"/>
          </a:xfrm>
          <a:prstGeom prst="rect">
            <a:avLst/>
          </a:prstGeom>
          <a:solidFill>
            <a:srgbClr val="AB4326"/>
          </a:solidFill>
          <a:ln w="12700">
            <a:solidFill>
              <a:srgbClr val="AB43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37525" y="1965960"/>
            <a:ext cx="32958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857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3 · EARLY INVESTOR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37525" y="2176272"/>
            <a:ext cx="32958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Anuj, 23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37525" y="2487168"/>
            <a:ext cx="32592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have started investing, but I still don’t know whether I’m allocating the right way.”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8368" y="3611880"/>
            <a:ext cx="254729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44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9/9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658368" y="4370832"/>
            <a:ext cx="25472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 tried to track their spending and given up. Memory, UPI history, abandoned spreadsheets, even a self-built tracker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34258" y="3611880"/>
            <a:ext cx="254729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44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9/9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3434258" y="4370832"/>
            <a:ext cx="25472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brought up trust or privacy on their own, before we asked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0148" y="3611880"/>
            <a:ext cx="254729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AB4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3/9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6210148" y="4370832"/>
            <a:ext cx="25472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 already lost money on F&amp;O, badly timed stocks or an over-invested stipend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986037" y="3611880"/>
            <a:ext cx="254729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AB4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0/9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8986037" y="4370832"/>
            <a:ext cx="25472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explain how to divide up a salary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" y="6291072"/>
            <a:ext cx="10874959" cy="0"/>
          </a:xfrm>
          <a:prstGeom prst="line">
            <a:avLst/>
          </a:prstGeom>
          <a:noFill/>
          <a:ln w="9525">
            <a:solidFill>
              <a:srgbClr val="DFD7C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6355080"/>
            <a:ext cx="81562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57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CANVAS 1 · PERSONAS &amp; JOURNEY MAPS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814587" y="6355080"/>
            <a:ext cx="27187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20" kern="0" dirty="0">
                <a:solidFill>
                  <a:srgbClr val="857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07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60" kern="0" dirty="0">
                <a:solidFill>
                  <a:srgbClr val="857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PROBLEMS UNCOVERED · WHERE EVERY JOURNEY MAP BENDS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8749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B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Confidence collapses between researching and deciding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36192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nine journey maps came out the same shape, and they hit bottom in the same place.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371600" y="2212848"/>
            <a:ext cx="1737360" cy="164592"/>
          </a:xfrm>
          <a:prstGeom prst="line">
            <a:avLst/>
          </a:prstGeom>
          <a:noFill/>
          <a:ln w="22225">
            <a:solidFill>
              <a:srgbClr val="DFD7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2377440"/>
            <a:ext cx="1737360" cy="329184"/>
          </a:xfrm>
          <a:prstGeom prst="line">
            <a:avLst/>
          </a:prstGeom>
          <a:noFill/>
          <a:ln w="22225">
            <a:solidFill>
              <a:srgbClr val="DFD7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0" y="2706624"/>
            <a:ext cx="1737360" cy="310896"/>
          </a:xfrm>
          <a:prstGeom prst="line">
            <a:avLst/>
          </a:prstGeom>
          <a:noFill/>
          <a:ln w="22225">
            <a:solidFill>
              <a:srgbClr val="DFD7C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3017520"/>
            <a:ext cx="1737360" cy="201168"/>
          </a:xfrm>
          <a:prstGeom prst="line">
            <a:avLst/>
          </a:prstGeom>
          <a:noFill/>
          <a:ln w="28575">
            <a:solidFill>
              <a:srgbClr val="AB43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8321040" y="2761488"/>
            <a:ext cx="1737360" cy="457200"/>
          </a:xfrm>
          <a:prstGeom prst="line">
            <a:avLst/>
          </a:prstGeom>
          <a:noFill/>
          <a:ln w="22225">
            <a:solidFill>
              <a:srgbClr val="DFD7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07592" y="2148840"/>
            <a:ext cx="128016" cy="128016"/>
          </a:xfrm>
          <a:prstGeom prst="ellipse">
            <a:avLst/>
          </a:prstGeom>
          <a:solidFill>
            <a:srgbClr val="14493C"/>
          </a:solidFill>
          <a:ln w="12700">
            <a:solidFill>
              <a:srgbClr val="1449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930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5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arrives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044952" y="2313432"/>
            <a:ext cx="128016" cy="128016"/>
          </a:xfrm>
          <a:prstGeom prst="ellipse">
            <a:avLst/>
          </a:prstGeom>
          <a:solidFill>
            <a:srgbClr val="14493C"/>
          </a:solidFill>
          <a:ln w="12700">
            <a:solidFill>
              <a:srgbClr val="1449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34930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5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to save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82312" y="2642616"/>
            <a:ext cx="128016" cy="128016"/>
          </a:xfrm>
          <a:prstGeom prst="ellipse">
            <a:avLst/>
          </a:prstGeom>
          <a:solidFill>
            <a:srgbClr val="14493C"/>
          </a:solidFill>
          <a:ln w="12700">
            <a:solidFill>
              <a:srgbClr val="1449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34930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5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Researches options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19672" y="2953512"/>
            <a:ext cx="128016" cy="128016"/>
          </a:xfrm>
          <a:prstGeom prst="ellipse">
            <a:avLst/>
          </a:prstGeom>
          <a:solidFill>
            <a:srgbClr val="14493C"/>
          </a:solidFill>
          <a:ln w="12700">
            <a:solidFill>
              <a:srgbClr val="1449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34930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5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Evaluates trust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0" y="3127248"/>
            <a:ext cx="182880" cy="182880"/>
          </a:xfrm>
          <a:prstGeom prst="ellipse">
            <a:avLst/>
          </a:prstGeom>
          <a:solidFill>
            <a:srgbClr val="AB4326"/>
          </a:solidFill>
          <a:ln w="12700">
            <a:solidFill>
              <a:srgbClr val="AB43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0" y="34930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B4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“I’ll decide later”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994392" y="2697480"/>
            <a:ext cx="128016" cy="128016"/>
          </a:xfrm>
          <a:prstGeom prst="ellipse">
            <a:avLst/>
          </a:prstGeom>
          <a:solidFill>
            <a:srgbClr val="14493C"/>
          </a:solidFill>
          <a:ln w="12700">
            <a:solidFill>
              <a:srgbClr val="1449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5440" y="34930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5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ahead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8368" y="4023360"/>
            <a:ext cx="3442106" cy="1371600"/>
          </a:xfrm>
          <a:prstGeom prst="roundRect">
            <a:avLst>
              <a:gd name="adj" fmla="val 2667"/>
            </a:avLst>
          </a:prstGeom>
          <a:solidFill>
            <a:srgbClr val="FFFCF6"/>
          </a:solidFill>
          <a:ln w="9525">
            <a:solidFill>
              <a:srgbClr val="DFD7C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" y="4187952"/>
            <a:ext cx="3039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stalls at the same point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59536" y="4626864"/>
            <a:ext cx="303977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could follow the concepts. Choosing between a PPF, a fixed deposit and a mutual fund is where they stopped.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74794" y="4023360"/>
            <a:ext cx="3442106" cy="1371600"/>
          </a:xfrm>
          <a:prstGeom prst="roundRect">
            <a:avLst>
              <a:gd name="adj" fmla="val 2667"/>
            </a:avLst>
          </a:prstGeom>
          <a:solidFill>
            <a:srgbClr val="FFFCF6"/>
          </a:solidFill>
          <a:ln w="9525">
            <a:solidFill>
              <a:srgbClr val="DFD7C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5962" y="4187952"/>
            <a:ext cx="3039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peaks when sources disagree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5962" y="4626864"/>
            <a:ext cx="303977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Parents, YouTube, ChatGPT, Gemini. “Different people give different advice. What do I do first?”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91221" y="4023360"/>
            <a:ext cx="3442106" cy="1371600"/>
          </a:xfrm>
          <a:prstGeom prst="roundRect">
            <a:avLst>
              <a:gd name="adj" fmla="val 2667"/>
            </a:avLst>
          </a:prstGeom>
          <a:solidFill>
            <a:srgbClr val="FFFCF6"/>
          </a:solidFill>
          <a:ln w="9525">
            <a:solidFill>
              <a:srgbClr val="AB43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2389" y="4187952"/>
            <a:ext cx="3039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lowest point is doing nothing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292389" y="4626864"/>
            <a:ext cx="303977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money sits in the account and the confidence never builds. More experience does not flatten the curve.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58368" y="6291072"/>
            <a:ext cx="10874959" cy="0"/>
          </a:xfrm>
          <a:prstGeom prst="line">
            <a:avLst/>
          </a:prstGeom>
          <a:noFill/>
          <a:ln w="9525">
            <a:solidFill>
              <a:srgbClr val="DFD7C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6355080"/>
            <a:ext cx="81562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57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CANVAS 1 · 9 CUSTOMER JOURNEY MAPS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814587" y="6355080"/>
            <a:ext cx="27187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20" kern="0" dirty="0">
                <a:solidFill>
                  <a:srgbClr val="857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07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60" kern="0" dirty="0">
                <a:solidFill>
                  <a:srgbClr val="857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PROBLEMS UNCOVERED · MULTI-WHY TO ROOT CAUSES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8749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B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gaps generate every symptom we observed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700784"/>
            <a:ext cx="5277460" cy="1298448"/>
          </a:xfrm>
          <a:prstGeom prst="roundRect">
            <a:avLst>
              <a:gd name="adj" fmla="val 2817"/>
            </a:avLst>
          </a:prstGeom>
          <a:solidFill>
            <a:srgbClr val="FFFCF6"/>
          </a:solidFill>
          <a:ln w="9525">
            <a:solidFill>
              <a:srgbClr val="DFD7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920240"/>
            <a:ext cx="566928" cy="237744"/>
          </a:xfrm>
          <a:prstGeom prst="roundRect">
            <a:avLst>
              <a:gd name="adj" fmla="val 11538"/>
            </a:avLst>
          </a:prstGeom>
          <a:solidFill>
            <a:srgbClr val="14493C"/>
          </a:solidFill>
          <a:ln w="12700">
            <a:solidFill>
              <a:srgbClr val="1449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92024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EE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RC·1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554480" y="1883664"/>
            <a:ext cx="41618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 gap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554480" y="2176272"/>
            <a:ext cx="41618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beginner-friendly, contextual help at the transition to independence. Education is generic and jargon-first; professional advice is expensive.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55868" y="1700784"/>
            <a:ext cx="5277460" cy="1298448"/>
          </a:xfrm>
          <a:prstGeom prst="roundRect">
            <a:avLst>
              <a:gd name="adj" fmla="val 2817"/>
            </a:avLst>
          </a:prstGeom>
          <a:solidFill>
            <a:srgbClr val="FFFCF6"/>
          </a:solidFill>
          <a:ln w="9525">
            <a:solidFill>
              <a:srgbClr val="DFD7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5324" y="1920240"/>
            <a:ext cx="566928" cy="237744"/>
          </a:xfrm>
          <a:prstGeom prst="roundRect">
            <a:avLst>
              <a:gd name="adj" fmla="val 11538"/>
            </a:avLst>
          </a:prstGeom>
          <a:solidFill>
            <a:srgbClr val="C8891F"/>
          </a:solidFill>
          <a:ln w="12700">
            <a:solidFill>
              <a:srgbClr val="C889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5324" y="192024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1D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RC·2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151980" y="1883664"/>
            <a:ext cx="41618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gap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151980" y="2176272"/>
            <a:ext cx="41618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planning tuned to income, goals and life stage. Our nine users needed four different budgeting approaches between them.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" y="3291840"/>
            <a:ext cx="5277460" cy="1298448"/>
          </a:xfrm>
          <a:prstGeom prst="roundRect">
            <a:avLst>
              <a:gd name="adj" fmla="val 2817"/>
            </a:avLst>
          </a:prstGeom>
          <a:solidFill>
            <a:srgbClr val="FFFCF6"/>
          </a:solidFill>
          <a:ln w="9525">
            <a:solidFill>
              <a:srgbClr val="DFD7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7824" y="3511296"/>
            <a:ext cx="566928" cy="237744"/>
          </a:xfrm>
          <a:prstGeom prst="roundRect">
            <a:avLst>
              <a:gd name="adj" fmla="val 11538"/>
            </a:avLst>
          </a:prstGeom>
          <a:solidFill>
            <a:srgbClr val="AB4326"/>
          </a:solidFill>
          <a:ln w="12700">
            <a:solidFill>
              <a:srgbClr val="AB43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351129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ED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RC·3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554480" y="3474720"/>
            <a:ext cx="41618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gap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554480" y="3767328"/>
            <a:ext cx="41618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way to see the reasoning behind a suggestion, and no safe way to build judgement before real money is at stake. So the decision gets put off.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55868" y="3291840"/>
            <a:ext cx="5277460" cy="1298448"/>
          </a:xfrm>
          <a:prstGeom prst="roundRect">
            <a:avLst>
              <a:gd name="adj" fmla="val 2817"/>
            </a:avLst>
          </a:prstGeom>
          <a:solidFill>
            <a:srgbClr val="FFFCF6"/>
          </a:solidFill>
          <a:ln w="9525">
            <a:solidFill>
              <a:srgbClr val="DFD7C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75324" y="3511296"/>
            <a:ext cx="566928" cy="237744"/>
          </a:xfrm>
          <a:prstGeom prst="roundRect">
            <a:avLst>
              <a:gd name="adj" fmla="val 11538"/>
            </a:avLst>
          </a:prstGeom>
          <a:solidFill>
            <a:srgbClr val="1B1815"/>
          </a:solidFill>
          <a:ln w="12700">
            <a:solidFill>
              <a:srgbClr val="1B181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5324" y="351129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RC·4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151980" y="3474720"/>
            <a:ext cx="41618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gap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151980" y="3767328"/>
            <a:ext cx="41618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practices and commercial incentives are unclear. People cannot check whether the guidance is impartial, so they fall back on family advice.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8368" y="4956048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kept coming back to: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users already have plenty of information. What they are short of is confidence.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trust decides whether they open the app at all.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8368" y="6291072"/>
            <a:ext cx="10874959" cy="0"/>
          </a:xfrm>
          <a:prstGeom prst="line">
            <a:avLst/>
          </a:prstGeom>
          <a:noFill/>
          <a:ln w="9525">
            <a:solidFill>
              <a:srgbClr val="DFD7C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6355080"/>
            <a:ext cx="81562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57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CANVAS 2 · MULTI-WHY ANALYSIS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814587" y="6355080"/>
            <a:ext cx="27187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20" kern="0" dirty="0">
                <a:solidFill>
                  <a:srgbClr val="857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07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60" kern="0" dirty="0">
                <a:solidFill>
                  <a:srgbClr val="857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SOLUTIONS GENERATED · EVERY FEATURE CLOSES A NAMED GAP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8749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B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ideas, four root causes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70078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RC·2 · Structure gap</a:t>
            </a:r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5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rules fit no one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47288" y="1700784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FD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13048" y="1682496"/>
            <a:ext cx="77202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Personalised budgeting and first-salary onboarding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813048" y="1920240"/>
            <a:ext cx="772027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questionnaire works out your profile, then splits your salary across essentials, an emergency fund, investments and spending. You drag it until it fits your life.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2368296"/>
            <a:ext cx="10874959" cy="0"/>
          </a:xfrm>
          <a:prstGeom prst="line">
            <a:avLst/>
          </a:prstGeom>
          <a:noFill/>
          <a:ln w="6350">
            <a:solidFill>
              <a:srgbClr val="DFD7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4231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RC·2 · Structure gap</a:t>
            </a:r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5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dies on effort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47288" y="242316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FD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13048" y="2404872"/>
            <a:ext cx="77202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dashboard and automatic expense tracking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813048" y="2642616"/>
            <a:ext cx="772027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account on one page. Expenses sort themselves, hidden charges get flagged, and you never type one in.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8368" y="3090672"/>
            <a:ext cx="10874959" cy="0"/>
          </a:xfrm>
          <a:prstGeom prst="line">
            <a:avLst/>
          </a:prstGeom>
          <a:noFill/>
          <a:ln w="6350">
            <a:solidFill>
              <a:srgbClr val="DFD7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14553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RC·3 · Confidence gap</a:t>
            </a:r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5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“I’ll decide later”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47288" y="3145536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FD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13048" y="3127248"/>
            <a:ext cx="77202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if” decision simulator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813048" y="3364992"/>
            <a:ext cx="772027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the question the way you would say it. “What if I invest ₹5,000 instead of spending it?” You see both futures side by side.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" y="3813048"/>
            <a:ext cx="10874959" cy="0"/>
          </a:xfrm>
          <a:prstGeom prst="line">
            <a:avLst/>
          </a:prstGeom>
          <a:noFill/>
          <a:ln w="6350">
            <a:solidFill>
              <a:srgbClr val="DFD7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8679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RC·1 · Guidance gap</a:t>
            </a:r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5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never arrives in time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47288" y="3867912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FD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13048" y="3849624"/>
            <a:ext cx="77202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smart nudges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813048" y="4087368"/>
            <a:ext cx="772027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turn up when they are useful. Move money on the day your salary lands. Check a subscription that has crept up.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8368" y="4535424"/>
            <a:ext cx="10874959" cy="0"/>
          </a:xfrm>
          <a:prstGeom prst="line">
            <a:avLst/>
          </a:prstGeom>
          <a:noFill/>
          <a:ln w="6350">
            <a:solidFill>
              <a:srgbClr val="DFD7C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59028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RC·1 · Guidance gap</a:t>
            </a:r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5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never becomes action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47288" y="4590288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FD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13048" y="4572000"/>
            <a:ext cx="77202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education, in context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813048" y="4809744"/>
            <a:ext cx="772027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term gets explained inside the app, right where you are making the decision. A moderated peer community comes next.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8368" y="6291072"/>
            <a:ext cx="10874959" cy="0"/>
          </a:xfrm>
          <a:prstGeom prst="line">
            <a:avLst/>
          </a:prstGeom>
          <a:noFill/>
          <a:ln w="9525">
            <a:solidFill>
              <a:srgbClr val="DFD7C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6355080"/>
            <a:ext cx="81562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57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CAUSES TO FEATURES · CANVAS 2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814587" y="6355080"/>
            <a:ext cx="27187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20" kern="0" dirty="0">
                <a:solidFill>
                  <a:srgbClr val="857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07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60" kern="0" dirty="0">
                <a:solidFill>
                  <a:srgbClr val="857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RC·4 · TRUST GAP · THE SHARPEST THING WE HAVE BEEN ASKED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8749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B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“Won’t AI become one more conflicting advisor?”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36192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cannot, because it never gets an opinion. That is built into the architecture.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58368" y="1965960"/>
            <a:ext cx="511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AB43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DID NOT BUILD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2414016"/>
            <a:ext cx="82296" cy="82296"/>
          </a:xfrm>
          <a:prstGeom prst="ellipse">
            <a:avLst/>
          </a:prstGeom>
          <a:solidFill>
            <a:srgbClr val="AB4326"/>
          </a:solidFill>
          <a:ln w="12700">
            <a:solidFill>
              <a:srgbClr val="AB43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89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Another voice competing with parents, YouTube and ChatGPT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82296" cy="82296"/>
          </a:xfrm>
          <a:prstGeom prst="ellipse">
            <a:avLst/>
          </a:prstGeom>
          <a:solidFill>
            <a:srgbClr val="AB4326"/>
          </a:solidFill>
          <a:ln w="12700">
            <a:solidFill>
              <a:srgbClr val="AB43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898648"/>
            <a:ext cx="489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picks out of a black box the user cannot check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" y="3547872"/>
            <a:ext cx="82296" cy="82296"/>
          </a:xfrm>
          <a:prstGeom prst="ellipse">
            <a:avLst/>
          </a:prstGeom>
          <a:solidFill>
            <a:srgbClr val="AB4326"/>
          </a:solidFill>
          <a:ln w="12700">
            <a:solidFill>
              <a:srgbClr val="AB43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3465576"/>
            <a:ext cx="489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tuned for engagement or commission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15888" y="1965960"/>
            <a:ext cx="511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44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BUILT INSTEAD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15888" y="2414016"/>
            <a:ext cx="82296" cy="82296"/>
          </a:xfrm>
          <a:prstGeom prst="ellipse">
            <a:avLst/>
          </a:prstGeom>
          <a:solidFill>
            <a:srgbClr val="14493C"/>
          </a:solidFill>
          <a:ln w="12700">
            <a:solidFill>
              <a:srgbClr val="1449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35344" y="2331720"/>
            <a:ext cx="489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rules produce every rupee on screen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15888" y="2980944"/>
            <a:ext cx="82296" cy="82296"/>
          </a:xfrm>
          <a:prstGeom prst="ellipse">
            <a:avLst/>
          </a:prstGeom>
          <a:solidFill>
            <a:srgbClr val="14493C"/>
          </a:solidFill>
          <a:ln w="12700">
            <a:solidFill>
              <a:srgbClr val="1449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35344" y="2898648"/>
            <a:ext cx="489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gets the finished figures and puts them into plain English. It is never asked to work one out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15888" y="3547872"/>
            <a:ext cx="82296" cy="82296"/>
          </a:xfrm>
          <a:prstGeom prst="ellipse">
            <a:avLst/>
          </a:prstGeom>
          <a:solidFill>
            <a:srgbClr val="14493C"/>
          </a:solidFill>
          <a:ln w="12700">
            <a:solidFill>
              <a:srgbClr val="1449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35344" y="3465576"/>
            <a:ext cx="489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recommendation shows its reasoning, its risk and two alternatives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8368" y="4224528"/>
            <a:ext cx="10874959" cy="1170432"/>
          </a:xfrm>
          <a:prstGeom prst="roundRect">
            <a:avLst>
              <a:gd name="adj" fmla="val 3125"/>
            </a:avLst>
          </a:prstGeom>
          <a:solidFill>
            <a:srgbClr val="FFFCF6"/>
          </a:solidFill>
          <a:ln w="9525">
            <a:solidFill>
              <a:srgbClr val="DFD7C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4389120"/>
            <a:ext cx="103994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57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HOLDS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96112" y="4645152"/>
            <a:ext cx="103994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maths lives in one file that contains no AI at all, so you can check any figure yourself. When the AI is unreachable every screen still works. A Trust Centre logs each AI call and what got sent. It weighs up the conflicting advice for the user, and has none of its own to add.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" y="6291072"/>
            <a:ext cx="10874959" cy="0"/>
          </a:xfrm>
          <a:prstGeom prst="line">
            <a:avLst/>
          </a:prstGeom>
          <a:noFill/>
          <a:ln w="9525">
            <a:solidFill>
              <a:srgbClr val="DFD7C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6355080"/>
            <a:ext cx="81562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57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PRINCIPLE · ANSWERS THE DISSENT WE GOT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814587" y="6355080"/>
            <a:ext cx="27187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20" kern="0" dirty="0">
                <a:solidFill>
                  <a:srgbClr val="857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07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60" kern="0" dirty="0">
                <a:solidFill>
                  <a:srgbClr val="857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WE ARE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141732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B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“I’ll decide later”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B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one clear step,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B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the reason shown.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331012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screens are built and running, including the questionnaire, the mentor, and the simulator you can ask in plain English.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0" y="1417320"/>
            <a:ext cx="2429104" cy="1371600"/>
          </a:xfrm>
          <a:prstGeom prst="roundRect">
            <a:avLst>
              <a:gd name="adj" fmla="val 2667"/>
            </a:avLst>
          </a:prstGeom>
          <a:solidFill>
            <a:srgbClr val="FFFCF6"/>
          </a:solidFill>
          <a:ln w="9525">
            <a:solidFill>
              <a:srgbClr val="DFD7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38544" y="1600200"/>
            <a:ext cx="195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4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638544" y="2185416"/>
            <a:ext cx="1953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screens, built and running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04224" y="1417320"/>
            <a:ext cx="2429104" cy="1371600"/>
          </a:xfrm>
          <a:prstGeom prst="roundRect">
            <a:avLst>
              <a:gd name="adj" fmla="val 2667"/>
            </a:avLst>
          </a:prstGeom>
          <a:solidFill>
            <a:srgbClr val="FFFCF6"/>
          </a:solidFill>
          <a:ln w="9525">
            <a:solidFill>
              <a:srgbClr val="DFD7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41968" y="1600200"/>
            <a:ext cx="195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4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9341968" y="2185416"/>
            <a:ext cx="1953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profiles, from 22 questions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3063240"/>
            <a:ext cx="2429104" cy="1371600"/>
          </a:xfrm>
          <a:prstGeom prst="roundRect">
            <a:avLst>
              <a:gd name="adj" fmla="val 2667"/>
            </a:avLst>
          </a:prstGeom>
          <a:solidFill>
            <a:srgbClr val="FFFCF6"/>
          </a:solidFill>
          <a:ln w="9525">
            <a:solidFill>
              <a:srgbClr val="DFD7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38544" y="3246120"/>
            <a:ext cx="195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4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638544" y="3831336"/>
            <a:ext cx="1953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nudge triggers, each carrying its evidence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04224" y="3063240"/>
            <a:ext cx="2429104" cy="1371600"/>
          </a:xfrm>
          <a:prstGeom prst="roundRect">
            <a:avLst>
              <a:gd name="adj" fmla="val 2667"/>
            </a:avLst>
          </a:prstGeom>
          <a:solidFill>
            <a:srgbClr val="FFFCF6"/>
          </a:solidFill>
          <a:ln w="9525">
            <a:solidFill>
              <a:srgbClr val="DFD7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41968" y="3246120"/>
            <a:ext cx="195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4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341968" y="3831336"/>
            <a:ext cx="1953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4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written by an AI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" y="46177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spc="120" kern="0" dirty="0">
                <a:solidFill>
                  <a:srgbClr val="857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FEEDBACK OVER APPLAUSE. PUSH HARDEST ON WHETHER THE EXPLANATIONS ACTUALLY EARN TRUST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58368" y="6291072"/>
            <a:ext cx="10874959" cy="0"/>
          </a:xfrm>
          <a:prstGeom prst="line">
            <a:avLst/>
          </a:prstGeom>
          <a:noFill/>
          <a:ln w="9525">
            <a:solidFill>
              <a:srgbClr val="DFD7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6355080"/>
            <a:ext cx="81562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57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PAISAPATH · TEAM 20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814587" y="6355080"/>
            <a:ext cx="27187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20" kern="0" dirty="0">
                <a:solidFill>
                  <a:srgbClr val="857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07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PaisaPath</dc:title>
  <dc:subject>PptxGenJS Presentation</dc:subject>
  <dc:creator>PaisaPath · Team 20</dc:creator>
  <cp:lastModifiedBy>PaisaPath · Team 20</cp:lastModifiedBy>
  <cp:revision>1</cp:revision>
  <dcterms:created xsi:type="dcterms:W3CDTF">2026-08-03T19:12:47Z</dcterms:created>
  <dcterms:modified xsi:type="dcterms:W3CDTF">2026-08-03T19:12:47Z</dcterms:modified>
</cp:coreProperties>
</file>